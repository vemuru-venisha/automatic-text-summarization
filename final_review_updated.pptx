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6" r:id="rId1"/>
  </p:sldMasterIdLst>
  <p:sldIdLst>
    <p:sldId id="256" r:id="rId2"/>
    <p:sldId id="257" r:id="rId3"/>
    <p:sldId id="258" r:id="rId4"/>
    <p:sldId id="263" r:id="rId5"/>
    <p:sldId id="273" r:id="rId6"/>
    <p:sldId id="274" r:id="rId7"/>
    <p:sldId id="264" r:id="rId8"/>
    <p:sldId id="262" r:id="rId9"/>
    <p:sldId id="276" r:id="rId10"/>
    <p:sldId id="260" r:id="rId11"/>
    <p:sldId id="259" r:id="rId12"/>
    <p:sldId id="265" r:id="rId13"/>
    <p:sldId id="272" r:id="rId14"/>
    <p:sldId id="266" r:id="rId15"/>
    <p:sldId id="271" r:id="rId16"/>
    <p:sldId id="270" r:id="rId17"/>
    <p:sldId id="269" r:id="rId18"/>
    <p:sldId id="268" r:id="rId19"/>
    <p:sldId id="267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EB1EB064-AB5A-4988-A971-588EB2F6E99E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60FD1538-EA2D-4B25-8973-F437C94A4B6F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9213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EB064-AB5A-4988-A971-588EB2F6E99E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D1538-EA2D-4B25-8973-F437C94A4B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040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EB064-AB5A-4988-A971-588EB2F6E99E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D1538-EA2D-4B25-8973-F437C94A4B6F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5218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EB064-AB5A-4988-A971-588EB2F6E99E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D1538-EA2D-4B25-8973-F437C94A4B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637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EB064-AB5A-4988-A971-588EB2F6E99E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D1538-EA2D-4B25-8973-F437C94A4B6F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8417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EB064-AB5A-4988-A971-588EB2F6E99E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D1538-EA2D-4B25-8973-F437C94A4B6F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9034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EB064-AB5A-4988-A971-588EB2F6E99E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D1538-EA2D-4B25-8973-F437C94A4B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614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EB064-AB5A-4988-A971-588EB2F6E99E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D1538-EA2D-4B25-8973-F437C94A4B6F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6675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EB064-AB5A-4988-A971-588EB2F6E99E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D1538-EA2D-4B25-8973-F437C94A4B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0010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EB064-AB5A-4988-A971-588EB2F6E99E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D1538-EA2D-4B25-8973-F437C94A4B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8988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EB064-AB5A-4988-A971-588EB2F6E99E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D1538-EA2D-4B25-8973-F437C94A4B6F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0096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EB064-AB5A-4988-A971-588EB2F6E99E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D1538-EA2D-4B25-8973-F437C94A4B6F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62789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EB064-AB5A-4988-A971-588EB2F6E99E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D1538-EA2D-4B25-8973-F437C94A4B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02384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EB064-AB5A-4988-A971-588EB2F6E99E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D1538-EA2D-4B25-8973-F437C94A4B6F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00364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EB064-AB5A-4988-A971-588EB2F6E99E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D1538-EA2D-4B25-8973-F437C94A4B6F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42328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EB064-AB5A-4988-A971-588EB2F6E99E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D1538-EA2D-4B25-8973-F437C94A4B6F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75326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EB064-AB5A-4988-A971-588EB2F6E99E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D1538-EA2D-4B25-8973-F437C94A4B6F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5473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B1EB064-AB5A-4988-A971-588EB2F6E99E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0FD1538-EA2D-4B25-8973-F437C94A4B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4144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778" r:id="rId12"/>
    <p:sldLayoutId id="2147483779" r:id="rId13"/>
    <p:sldLayoutId id="2147483780" r:id="rId14"/>
    <p:sldLayoutId id="2147483781" r:id="rId15"/>
    <p:sldLayoutId id="2147483782" r:id="rId16"/>
    <p:sldLayoutId id="214748378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43B18-3BED-6EF8-F6E4-975FEF1D34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786" y="2080621"/>
            <a:ext cx="6683604" cy="1586060"/>
          </a:xfrm>
        </p:spPr>
        <p:txBody>
          <a:bodyPr>
            <a:normAutofit fontScale="90000"/>
          </a:bodyPr>
          <a:lstStyle/>
          <a:p>
            <a:r>
              <a:rPr lang="en-IN" dirty="0"/>
              <a:t>Automatic Text Summarization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C6F9B5-5FC2-2EA5-D2D5-F4A646E2EE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3963" y="3666681"/>
            <a:ext cx="7051249" cy="1369715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Group members</a:t>
            </a:r>
          </a:p>
          <a:p>
            <a:r>
              <a:rPr lang="en-IN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V VENISHA -2300032694</a:t>
            </a:r>
          </a:p>
          <a:p>
            <a:r>
              <a:rPr lang="en-IN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 TEJASRI   -  2300033513</a:t>
            </a:r>
          </a:p>
          <a:p>
            <a:r>
              <a:rPr lang="en-IN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Kamran Akmal-  2300030835</a:t>
            </a:r>
          </a:p>
          <a:p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IN" dirty="0"/>
          </a:p>
        </p:txBody>
      </p:sp>
      <p:pic>
        <p:nvPicPr>
          <p:cNvPr id="4" name="Picture 3" descr="7f18a2bb-bcfd-4749-a965-21e0bd05b5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409839" cy="731520"/>
          </a:xfrm>
          <a:prstGeom prst="rect">
            <a:avLst/>
          </a:prstGeom>
        </p:spPr>
      </p:pic>
      <p:pic>
        <p:nvPicPr>
          <p:cNvPr id="5" name="Picture 4" descr="415fac5a-face-4df4-a058-d22173aafe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35040"/>
            <a:ext cx="12192000" cy="661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97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2B9D5-AC60-175F-BCE2-2525CD5D8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AEB97-9D24-D40C-8844-3EAA0AC32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Large amounts of textual data are generated daily.</a:t>
            </a:r>
          </a:p>
          <a:p>
            <a:r>
              <a:rPr lang="en-US" dirty="0"/>
              <a:t>Manual summarization is time-consuming and inefficient.</a:t>
            </a:r>
          </a:p>
          <a:p>
            <a:r>
              <a:rPr lang="en-US" dirty="0"/>
              <a:t>Text summarization automatically converts long text into short, meaningful content.</a:t>
            </a:r>
          </a:p>
          <a:p>
            <a:r>
              <a:rPr lang="en-US" dirty="0"/>
              <a:t>This project uses a Conditional GAN with Transformer (BART) to generate high-quality summaries.</a:t>
            </a:r>
          </a:p>
          <a:p>
            <a:r>
              <a:rPr lang="en-US" dirty="0"/>
              <a:t>The system produces paragraph and bullet summaries with a confidence score.</a:t>
            </a:r>
            <a:endParaRPr lang="en-IN" dirty="0"/>
          </a:p>
        </p:txBody>
      </p:sp>
      <p:pic>
        <p:nvPicPr>
          <p:cNvPr id="4" name="Picture 3" descr="7f18a2bb-bcfd-4749-a965-21e0bd05b5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409839" cy="731520"/>
          </a:xfrm>
          <a:prstGeom prst="rect">
            <a:avLst/>
          </a:prstGeom>
        </p:spPr>
      </p:pic>
      <p:pic>
        <p:nvPicPr>
          <p:cNvPr id="5" name="Picture 4" descr="415fac5a-face-4df4-a058-d22173aafe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35040"/>
            <a:ext cx="12192000" cy="661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419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28360-65EB-AC07-2034-8866DA713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39297-B675-662B-DCE1-6C3A76520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       The rapid growth of digital content has made it difficult for users to read and understand long text documents efficiently. Manual summarization is time-consuming and may result in loss of important information. Therefore, there is a need for an automated text summarization system that can generate concise, meaningful summaries from lengthy text while allowing users to control the summary length through an interactive web interface.</a:t>
            </a:r>
            <a:endParaRPr lang="en-IN" dirty="0"/>
          </a:p>
        </p:txBody>
      </p:sp>
      <p:pic>
        <p:nvPicPr>
          <p:cNvPr id="4" name="Picture 3" descr="7f18a2bb-bcfd-4749-a965-21e0bd05b5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409839" cy="731520"/>
          </a:xfrm>
          <a:prstGeom prst="rect">
            <a:avLst/>
          </a:prstGeom>
        </p:spPr>
      </p:pic>
      <p:pic>
        <p:nvPicPr>
          <p:cNvPr id="5" name="Picture 4" descr="415fac5a-face-4df4-a058-d22173aafe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35040"/>
            <a:ext cx="12192000" cy="661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668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6CBC0-F89C-3C01-2229-EEB38F9BC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58C5-F3ED-54A8-6A5E-5CC13791F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To develop an automated text summarization system using Transformer models.</a:t>
            </a:r>
          </a:p>
          <a:p>
            <a:r>
              <a:rPr lang="en-IN" dirty="0"/>
              <a:t>To implement a Conditional GAN architecture for improving summary quality.</a:t>
            </a:r>
          </a:p>
          <a:p>
            <a:r>
              <a:rPr lang="en-IN" dirty="0"/>
              <a:t>To generate both paragraph and bullet format summaries.</a:t>
            </a:r>
          </a:p>
          <a:p>
            <a:r>
              <a:rPr lang="en-IN" dirty="0"/>
              <a:t>To evaluate summary quality using a discriminator-based confidence score.</a:t>
            </a:r>
          </a:p>
          <a:p>
            <a:r>
              <a:rPr lang="en-IN" dirty="0"/>
              <a:t>To build a user-friendly web interface for real-time summarization.</a:t>
            </a:r>
          </a:p>
        </p:txBody>
      </p:sp>
      <p:pic>
        <p:nvPicPr>
          <p:cNvPr id="4" name="Picture 3" descr="7f18a2bb-bcfd-4749-a965-21e0bd05b5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409839" cy="731520"/>
          </a:xfrm>
          <a:prstGeom prst="rect">
            <a:avLst/>
          </a:prstGeom>
        </p:spPr>
      </p:pic>
      <p:pic>
        <p:nvPicPr>
          <p:cNvPr id="5" name="Picture 4" descr="415fac5a-face-4df4-a058-d22173aafe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35040"/>
            <a:ext cx="12192000" cy="661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496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75163-CB23-A49B-9E24-8C93C2844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 / Existing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A2536-E211-C565-0253-D06F066E9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Traditional summarization methods use extractive techniques, selecting important sentences from the text.</a:t>
            </a:r>
          </a:p>
          <a:p>
            <a:r>
              <a:rPr lang="en-US" dirty="0"/>
              <a:t>Machine learning models improved summarization using statistical and feature-based approaches.</a:t>
            </a:r>
          </a:p>
          <a:p>
            <a:r>
              <a:rPr lang="en-US" dirty="0"/>
              <a:t>Transformer-based models like BART, GPT, and T5 introduced abstractive summarization with better contextual understanding.</a:t>
            </a:r>
          </a:p>
          <a:p>
            <a:r>
              <a:rPr lang="en-US" dirty="0"/>
              <a:t>Most existing systems do not include a quality evaluation mechanism for generated summaries.</a:t>
            </a:r>
          </a:p>
          <a:p>
            <a:r>
              <a:rPr lang="en-US" dirty="0"/>
              <a:t>Existing models generate summaries but lack adversarial learning for improving accuracy and reliability.</a:t>
            </a:r>
            <a:endParaRPr lang="en-IN" dirty="0"/>
          </a:p>
        </p:txBody>
      </p:sp>
      <p:pic>
        <p:nvPicPr>
          <p:cNvPr id="4" name="Picture 3" descr="7f18a2bb-bcfd-4749-a965-21e0bd05b5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409839" cy="731520"/>
          </a:xfrm>
          <a:prstGeom prst="rect">
            <a:avLst/>
          </a:prstGeom>
        </p:spPr>
      </p:pic>
      <p:pic>
        <p:nvPicPr>
          <p:cNvPr id="5" name="Picture 4" descr="415fac5a-face-4df4-a058-d22173aafe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35040"/>
            <a:ext cx="12192000" cy="661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48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69254-A4E8-8FCA-3664-33D74EB0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54DFD-7F78-16F6-E972-DDD05A840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B65EA-6A2B-136B-8299-AA2CA0449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The system uses a Conditional GAN architecture for text summarization.</a:t>
            </a:r>
          </a:p>
          <a:p>
            <a:r>
              <a:rPr lang="en-IN" dirty="0"/>
              <a:t>Generator (</a:t>
            </a:r>
            <a:r>
              <a:rPr lang="en-IN" dirty="0" err="1"/>
              <a:t>DistilBART</a:t>
            </a:r>
            <a:r>
              <a:rPr lang="en-IN" dirty="0"/>
              <a:t> Transformer) generates abstractive summaries from input text.</a:t>
            </a:r>
          </a:p>
          <a:p>
            <a:r>
              <a:rPr lang="en-IN" dirty="0"/>
              <a:t>Conditional Discriminator evaluates the quality of the generated summary.</a:t>
            </a:r>
          </a:p>
          <a:p>
            <a:r>
              <a:rPr lang="en-IN" dirty="0"/>
              <a:t>Supports both: Paragraph summaries Bullet summaries</a:t>
            </a:r>
          </a:p>
          <a:p>
            <a:r>
              <a:rPr lang="en-IN" dirty="0"/>
              <a:t>Provides a confidence score to indicate summary reliability.</a:t>
            </a:r>
          </a:p>
          <a:p>
            <a:r>
              <a:rPr lang="en-IN" dirty="0"/>
              <a:t>Implemented with </a:t>
            </a:r>
            <a:r>
              <a:rPr lang="en-IN" dirty="0" err="1"/>
              <a:t>PyTorch</a:t>
            </a:r>
            <a:r>
              <a:rPr lang="en-IN" dirty="0"/>
              <a:t>, </a:t>
            </a:r>
            <a:r>
              <a:rPr lang="en-IN" dirty="0" err="1"/>
              <a:t>HuggingFace</a:t>
            </a:r>
            <a:r>
              <a:rPr lang="en-IN" dirty="0"/>
              <a:t> Transformers, and Flask Web Interface for real-time usage.</a:t>
            </a:r>
          </a:p>
        </p:txBody>
      </p:sp>
      <p:pic>
        <p:nvPicPr>
          <p:cNvPr id="4" name="Picture 3" descr="7f18a2bb-bcfd-4749-a965-21e0bd05b5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409839" cy="731520"/>
          </a:xfrm>
          <a:prstGeom prst="rect">
            <a:avLst/>
          </a:prstGeom>
        </p:spPr>
      </p:pic>
      <p:pic>
        <p:nvPicPr>
          <p:cNvPr id="5" name="Picture 4" descr="415fac5a-face-4df4-a058-d22173aafe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35040"/>
            <a:ext cx="12192000" cy="661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425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1CC5B-65EE-1EE8-1D1D-9152C744C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Text Summarization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8BBE0-7E8D-6FDC-48B2-06DB0A7A9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1.  Extractive Summarization</a:t>
            </a:r>
          </a:p>
          <a:p>
            <a:pPr marL="0" indent="0">
              <a:buNone/>
            </a:pPr>
            <a:r>
              <a:rPr lang="en-US" dirty="0"/>
              <a:t>Selects important sentences directly from the original </a:t>
            </a:r>
            <a:r>
              <a:rPr lang="en-US" dirty="0" err="1"/>
              <a:t>text.Does</a:t>
            </a:r>
            <a:r>
              <a:rPr lang="en-US" dirty="0"/>
              <a:t> not generate new </a:t>
            </a:r>
            <a:r>
              <a:rPr lang="en-US" dirty="0" err="1"/>
              <a:t>sentences.Maintains</a:t>
            </a:r>
            <a:r>
              <a:rPr lang="en-US" dirty="0"/>
              <a:t> original </a:t>
            </a:r>
            <a:r>
              <a:rPr lang="en-US" dirty="0" err="1"/>
              <a:t>wording.Simple</a:t>
            </a:r>
            <a:r>
              <a:rPr lang="en-US" dirty="0"/>
              <a:t> and faster method</a:t>
            </a:r>
            <a:r>
              <a:rPr lang="en-US" b="1" dirty="0"/>
              <a:t>.</a:t>
            </a:r>
          </a:p>
          <a:p>
            <a:r>
              <a:rPr lang="en-US" b="1" dirty="0"/>
              <a:t>2. Abstractive Summarization</a:t>
            </a:r>
          </a:p>
          <a:p>
            <a:pPr marL="0" indent="0">
              <a:buNone/>
            </a:pPr>
            <a:r>
              <a:rPr lang="en-US" dirty="0"/>
              <a:t>Generates new sentences that capture the meaning of the </a:t>
            </a:r>
            <a:r>
              <a:rPr lang="en-US" dirty="0" err="1"/>
              <a:t>text.Uses</a:t>
            </a:r>
            <a:r>
              <a:rPr lang="en-US" dirty="0"/>
              <a:t> deep learning and Transformer </a:t>
            </a:r>
            <a:r>
              <a:rPr lang="en-US" dirty="0" err="1"/>
              <a:t>models.More</a:t>
            </a:r>
            <a:r>
              <a:rPr lang="en-US" dirty="0"/>
              <a:t> natural and human-like </a:t>
            </a:r>
            <a:r>
              <a:rPr lang="en-US" dirty="0" err="1"/>
              <a:t>summaries.Requires</a:t>
            </a:r>
            <a:r>
              <a:rPr lang="en-US" dirty="0"/>
              <a:t> advanced NLP techniques</a:t>
            </a:r>
            <a:r>
              <a:rPr lang="en-US" b="1" dirty="0"/>
              <a:t>.</a:t>
            </a:r>
            <a:endParaRPr lang="en-IN" dirty="0"/>
          </a:p>
        </p:txBody>
      </p:sp>
      <p:pic>
        <p:nvPicPr>
          <p:cNvPr id="4" name="Picture 3" descr="7f18a2bb-bcfd-4749-a965-21e0bd05b5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409839" cy="731520"/>
          </a:xfrm>
          <a:prstGeom prst="rect">
            <a:avLst/>
          </a:prstGeom>
        </p:spPr>
      </p:pic>
      <p:pic>
        <p:nvPicPr>
          <p:cNvPr id="5" name="Picture 4" descr="415fac5a-face-4df4-a058-d22173aafe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35040"/>
            <a:ext cx="12192000" cy="661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733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A2E8C-E7E6-6AED-5BA9-EA2291845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933DC-B11C-95DF-910A-FD51E7FE1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Programming Language: Python</a:t>
            </a:r>
          </a:p>
          <a:p>
            <a:r>
              <a:rPr lang="en-IN" dirty="0"/>
              <a:t>Deep Learning Framework: </a:t>
            </a:r>
            <a:r>
              <a:rPr lang="en-IN" dirty="0" err="1"/>
              <a:t>PyTorch</a:t>
            </a:r>
            <a:endParaRPr lang="en-IN" dirty="0"/>
          </a:p>
          <a:p>
            <a:r>
              <a:rPr lang="en-IN" dirty="0"/>
              <a:t>NLP Library: </a:t>
            </a:r>
            <a:r>
              <a:rPr lang="en-IN" dirty="0" err="1"/>
              <a:t>HuggingFace</a:t>
            </a:r>
            <a:r>
              <a:rPr lang="en-IN" dirty="0"/>
              <a:t> Transformers</a:t>
            </a:r>
          </a:p>
          <a:p>
            <a:r>
              <a:rPr lang="en-IN" dirty="0"/>
              <a:t>Model Used: </a:t>
            </a:r>
            <a:r>
              <a:rPr lang="en-IN" dirty="0" err="1"/>
              <a:t>DistilBART</a:t>
            </a:r>
            <a:r>
              <a:rPr lang="en-IN" dirty="0"/>
              <a:t> (Pre-trained Transformer)</a:t>
            </a:r>
          </a:p>
          <a:p>
            <a:r>
              <a:rPr lang="en-IN" dirty="0"/>
              <a:t>GAN Architecture: Conditional Generator &amp; Discriminator</a:t>
            </a:r>
          </a:p>
          <a:p>
            <a:r>
              <a:rPr lang="en-IN" dirty="0"/>
              <a:t>Dataset: CNN/</a:t>
            </a:r>
            <a:r>
              <a:rPr lang="en-IN" dirty="0" err="1"/>
              <a:t>DailyMail</a:t>
            </a:r>
            <a:endParaRPr lang="en-IN" dirty="0"/>
          </a:p>
          <a:p>
            <a:r>
              <a:rPr lang="en-IN" dirty="0"/>
              <a:t>Backend: Flask</a:t>
            </a:r>
          </a:p>
          <a:p>
            <a:r>
              <a:rPr lang="en-IN" dirty="0"/>
              <a:t>Frontend: HTML, CSS, JavaScript</a:t>
            </a:r>
          </a:p>
          <a:p>
            <a:r>
              <a:rPr lang="en-IN" dirty="0"/>
              <a:t>Additional Tools: NLTK (Sentence Tokenization)</a:t>
            </a:r>
          </a:p>
        </p:txBody>
      </p:sp>
      <p:pic>
        <p:nvPicPr>
          <p:cNvPr id="4" name="Picture 3" descr="7f18a2bb-bcfd-4749-a965-21e0bd05b5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409839" cy="731520"/>
          </a:xfrm>
          <a:prstGeom prst="rect">
            <a:avLst/>
          </a:prstGeom>
        </p:spPr>
      </p:pic>
      <p:pic>
        <p:nvPicPr>
          <p:cNvPr id="5" name="Picture 4" descr="415fac5a-face-4df4-a058-d22173aafe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35040"/>
            <a:ext cx="12192000" cy="661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102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90A3B-B0CE-040F-6D42-506827A48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Transformer Model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F725A-76A2-2C7C-B44D-E0BF308AE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Transformer is a deep learning architecture used for Natural Language Processing tasks.</a:t>
            </a:r>
          </a:p>
          <a:p>
            <a:r>
              <a:rPr lang="en-US" dirty="0"/>
              <a:t>It uses an attention mechanism to understand relationships between words.</a:t>
            </a:r>
          </a:p>
          <a:p>
            <a:r>
              <a:rPr lang="en-US" dirty="0"/>
              <a:t>Works with sequence-to-sequence models for text generation tasks.</a:t>
            </a:r>
          </a:p>
          <a:p>
            <a:r>
              <a:rPr lang="en-US" dirty="0"/>
              <a:t>Handles long text efficiently compared to traditional RNNs and LSTMs.</a:t>
            </a:r>
          </a:p>
          <a:p>
            <a:r>
              <a:rPr lang="en-US" dirty="0"/>
              <a:t>Widely used for translation, summarization, and chatbots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302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D7257-0396-56B0-24A5-744CC5D03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DistilBART</a:t>
            </a:r>
            <a:r>
              <a:rPr lang="en-IN" dirty="0"/>
              <a:t>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8DB98-D1FF-4691-958C-19887F648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DistilBART</a:t>
            </a:r>
            <a:r>
              <a:rPr lang="en-US" dirty="0"/>
              <a:t> is a lightweight version of the BART Transformer model.</a:t>
            </a:r>
          </a:p>
          <a:p>
            <a:r>
              <a:rPr lang="en-US" dirty="0"/>
              <a:t>It is optimized for faster inference with reduced model size.</a:t>
            </a:r>
          </a:p>
          <a:p>
            <a:r>
              <a:rPr lang="en-US" dirty="0"/>
              <a:t>Maintains high summarization quality while improving efficiency.</a:t>
            </a:r>
          </a:p>
          <a:p>
            <a:r>
              <a:rPr lang="en-US" dirty="0"/>
              <a:t>Pre-trained on large news datasets for text summarization tasks.</a:t>
            </a:r>
          </a:p>
          <a:p>
            <a:r>
              <a:rPr lang="en-US" dirty="0"/>
              <a:t>Used in this project to generate abstractive summaries.</a:t>
            </a:r>
            <a:endParaRPr lang="en-IN" dirty="0"/>
          </a:p>
        </p:txBody>
      </p:sp>
      <p:pic>
        <p:nvPicPr>
          <p:cNvPr id="4" name="Picture 3" descr="7f18a2bb-bcfd-4749-a965-21e0bd05b5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409839" cy="731520"/>
          </a:xfrm>
          <a:prstGeom prst="rect">
            <a:avLst/>
          </a:prstGeom>
        </p:spPr>
      </p:pic>
      <p:pic>
        <p:nvPicPr>
          <p:cNvPr id="5" name="Picture 4" descr="415fac5a-face-4df4-a058-d22173aafe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35040"/>
            <a:ext cx="12192000" cy="661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884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85E7C-0D20-D72E-5AE8-7C18F57D7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GAN Concept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ADC47-A32C-BB51-A1B2-F0A3F9BF6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GAN stands for Generative Adversarial Network.</a:t>
            </a:r>
          </a:p>
          <a:p>
            <a:r>
              <a:rPr lang="en-US" dirty="0"/>
              <a:t>It consists of two neural networks: </a:t>
            </a:r>
          </a:p>
          <a:p>
            <a:pPr marL="0" indent="0">
              <a:buNone/>
            </a:pPr>
            <a:r>
              <a:rPr lang="en-US" dirty="0"/>
              <a:t>               Generator – Generates new data (summary).</a:t>
            </a:r>
          </a:p>
          <a:p>
            <a:pPr marL="0" indent="0">
              <a:buNone/>
            </a:pPr>
            <a:r>
              <a:rPr lang="en-US" dirty="0"/>
              <a:t>               Discriminator – Evaluates whether the generated data is real or fake.</a:t>
            </a:r>
          </a:p>
          <a:p>
            <a:r>
              <a:rPr lang="en-US" dirty="0"/>
              <a:t>Both networks compete with each other in an adversarial process.</a:t>
            </a:r>
          </a:p>
          <a:p>
            <a:r>
              <a:rPr lang="en-US" dirty="0"/>
              <a:t>The Generator tries to produce better summaries.</a:t>
            </a:r>
          </a:p>
          <a:p>
            <a:r>
              <a:rPr lang="en-US" dirty="0"/>
              <a:t>The Discriminator tries to detect whether the summary is real (original) or generated.</a:t>
            </a:r>
          </a:p>
          <a:p>
            <a:r>
              <a:rPr lang="en-US" dirty="0"/>
              <a:t>Through this competition, the Generator improves its performance.</a:t>
            </a:r>
            <a:endParaRPr lang="en-IN" dirty="0"/>
          </a:p>
        </p:txBody>
      </p:sp>
      <p:pic>
        <p:nvPicPr>
          <p:cNvPr id="4" name="Picture 3" descr="7f18a2bb-bcfd-4749-a965-21e0bd05b5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409839" cy="731520"/>
          </a:xfrm>
          <a:prstGeom prst="rect">
            <a:avLst/>
          </a:prstGeom>
        </p:spPr>
      </p:pic>
      <p:pic>
        <p:nvPicPr>
          <p:cNvPr id="5" name="Picture 4" descr="415fac5a-face-4df4-a058-d22173aafe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35040"/>
            <a:ext cx="12192000" cy="661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562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6FDAA-E505-8986-9869-539D31C53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88E10-8FC9-1F5B-0CF7-9E6F63345A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6415725" cy="3318936"/>
          </a:xfrm>
        </p:spPr>
        <p:txBody>
          <a:bodyPr>
            <a:normAutofit fontScale="85000" lnSpcReduction="10000"/>
          </a:bodyPr>
          <a:lstStyle/>
          <a:p>
            <a:r>
              <a:rPr lang="en-IN" dirty="0"/>
              <a:t>Frontend (HTML, CSS, JavaScript) – Collects user input</a:t>
            </a:r>
          </a:p>
          <a:p>
            <a:r>
              <a:rPr lang="en-IN" dirty="0"/>
              <a:t>Flask Backend – Handles API requests and model execution</a:t>
            </a:r>
          </a:p>
          <a:p>
            <a:r>
              <a:rPr lang="en-IN" dirty="0"/>
              <a:t>Generator (Transformer Model) – Produces abstractive summary</a:t>
            </a:r>
          </a:p>
          <a:p>
            <a:r>
              <a:rPr lang="en-IN" dirty="0"/>
              <a:t>Discriminator (GAN Component) – Evaluates summary quality</a:t>
            </a:r>
          </a:p>
          <a:p>
            <a:r>
              <a:rPr lang="en-IN" dirty="0"/>
              <a:t>Output Module – Displays summary and confidence score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DD9EBF-4088-91B9-4002-BC612980533A}"/>
              </a:ext>
            </a:extLst>
          </p:cNvPr>
          <p:cNvSpPr txBox="1"/>
          <p:nvPr/>
        </p:nvSpPr>
        <p:spPr>
          <a:xfrm>
            <a:off x="8144758" y="2736547"/>
            <a:ext cx="275184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        Input</a:t>
            </a:r>
          </a:p>
          <a:p>
            <a:r>
              <a:rPr lang="en-IN" dirty="0"/>
              <a:t>             ↓</a:t>
            </a:r>
          </a:p>
          <a:p>
            <a:r>
              <a:rPr lang="en-IN" dirty="0"/>
              <a:t>         Flask API</a:t>
            </a:r>
          </a:p>
          <a:p>
            <a:r>
              <a:rPr lang="en-IN" dirty="0"/>
              <a:t>             ↓</a:t>
            </a:r>
          </a:p>
          <a:p>
            <a:r>
              <a:rPr lang="en-IN" dirty="0"/>
              <a:t>      Generator (BART)</a:t>
            </a:r>
          </a:p>
          <a:p>
            <a:r>
              <a:rPr lang="en-IN" dirty="0"/>
              <a:t>             ↓</a:t>
            </a:r>
          </a:p>
          <a:p>
            <a:r>
              <a:rPr lang="en-IN" dirty="0"/>
              <a:t>   Conditional Discriminator</a:t>
            </a:r>
          </a:p>
          <a:p>
            <a:r>
              <a:rPr lang="en-IN" dirty="0"/>
              <a:t>             ↓</a:t>
            </a:r>
          </a:p>
          <a:p>
            <a:r>
              <a:rPr lang="en-IN" dirty="0"/>
              <a:t>        Output Display</a:t>
            </a:r>
          </a:p>
          <a:p>
            <a:r>
              <a:rPr lang="en-IN" dirty="0"/>
              <a:t>   (Summary + Confidence Score)</a:t>
            </a:r>
          </a:p>
        </p:txBody>
      </p:sp>
      <p:pic>
        <p:nvPicPr>
          <p:cNvPr id="6" name="Picture 5" descr="7f18a2bb-bcfd-4749-a965-21e0bd05b5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409839" cy="731520"/>
          </a:xfrm>
          <a:prstGeom prst="rect">
            <a:avLst/>
          </a:prstGeom>
        </p:spPr>
      </p:pic>
      <p:pic>
        <p:nvPicPr>
          <p:cNvPr id="7" name="Picture 6" descr="415fac5a-face-4df4-a058-d22173aafe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35040"/>
            <a:ext cx="12192000" cy="661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781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E5123-7831-D07E-46F8-81802643F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Working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BF4F7-6FBE-20CC-1232-7DA893EF4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User enters long text in the web interface.</a:t>
            </a:r>
          </a:p>
          <a:p>
            <a:r>
              <a:rPr lang="en-US" dirty="0"/>
              <a:t>User selects summary length and mode (paragraph or bullet).</a:t>
            </a:r>
          </a:p>
          <a:p>
            <a:r>
              <a:rPr lang="en-US" dirty="0"/>
              <a:t>Frontend sends input data to Flask backend via POST request.</a:t>
            </a:r>
          </a:p>
          <a:p>
            <a:r>
              <a:rPr lang="en-US" dirty="0"/>
              <a:t>Generator (</a:t>
            </a:r>
            <a:r>
              <a:rPr lang="en-US" dirty="0" err="1"/>
              <a:t>DistilBART</a:t>
            </a:r>
            <a:r>
              <a:rPr lang="en-US" dirty="0"/>
              <a:t>) creates an abstractive summary.</a:t>
            </a:r>
          </a:p>
          <a:p>
            <a:r>
              <a:rPr lang="en-US" dirty="0"/>
              <a:t>Discriminator evaluates the summary and calculates confidence score.</a:t>
            </a:r>
          </a:p>
          <a:p>
            <a:r>
              <a:rPr lang="en-US" dirty="0"/>
              <a:t>Backend sends summary and score back to frontend.</a:t>
            </a:r>
          </a:p>
          <a:p>
            <a:r>
              <a:rPr lang="en-US" dirty="0"/>
              <a:t>Final summary and confidence percentage are displayed to the user</a:t>
            </a:r>
            <a:endParaRPr lang="en-IN" dirty="0"/>
          </a:p>
        </p:txBody>
      </p:sp>
      <p:pic>
        <p:nvPicPr>
          <p:cNvPr id="4" name="Picture 3" descr="7f18a2bb-bcfd-4749-a965-21e0bd05b5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409839" cy="731520"/>
          </a:xfrm>
          <a:prstGeom prst="rect">
            <a:avLst/>
          </a:prstGeom>
        </p:spPr>
      </p:pic>
      <p:pic>
        <p:nvPicPr>
          <p:cNvPr id="5" name="Picture 4" descr="415fac5a-face-4df4-a058-d22173aafe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35040"/>
            <a:ext cx="12192000" cy="661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530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A74BE-483D-518E-CC78-488324116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Code Explanation – Backend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06018-C76B-77F4-D6EA-D450F2F9B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425" y="2556932"/>
            <a:ext cx="10265789" cy="331893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Developed using Flask (Python Framework).</a:t>
            </a:r>
          </a:p>
          <a:p>
            <a:r>
              <a:rPr lang="en-US" dirty="0"/>
              <a:t>Loads </a:t>
            </a:r>
            <a:r>
              <a:rPr lang="en-US" dirty="0" err="1"/>
              <a:t>DistilBART</a:t>
            </a:r>
            <a:r>
              <a:rPr lang="en-US" dirty="0"/>
              <a:t> (Generator) and Conditional Discriminator models.</a:t>
            </a:r>
          </a:p>
          <a:p>
            <a:r>
              <a:rPr lang="en-US" dirty="0"/>
              <a:t>/summarize API receives text, length, and mode from frontend.</a:t>
            </a:r>
          </a:p>
          <a:p>
            <a:r>
              <a:rPr lang="en-US" dirty="0"/>
              <a:t>Generates abstractive summary using Transformer </a:t>
            </a:r>
            <a:r>
              <a:rPr lang="en-US" dirty="0" err="1"/>
              <a:t>model.Creates</a:t>
            </a:r>
            <a:r>
              <a:rPr lang="en-US" dirty="0"/>
              <a:t> bullet summary using sentence tokenization.</a:t>
            </a:r>
          </a:p>
          <a:p>
            <a:r>
              <a:rPr lang="en-US" dirty="0"/>
              <a:t>Discriminator evaluates summary and produces confidence score.</a:t>
            </a:r>
          </a:p>
          <a:p>
            <a:r>
              <a:rPr lang="en-US" dirty="0"/>
              <a:t>Returns summary and score in JSON format to frontend.</a:t>
            </a:r>
            <a:endParaRPr lang="en-IN" dirty="0"/>
          </a:p>
        </p:txBody>
      </p:sp>
      <p:pic>
        <p:nvPicPr>
          <p:cNvPr id="6" name="Picture 5" descr="7f18a2bb-bcfd-4749-a965-21e0bd05b5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409839" cy="731520"/>
          </a:xfrm>
          <a:prstGeom prst="rect">
            <a:avLst/>
          </a:prstGeom>
        </p:spPr>
      </p:pic>
      <p:pic>
        <p:nvPicPr>
          <p:cNvPr id="7" name="Picture 6" descr="415fac5a-face-4df4-a058-d22173aafe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35040"/>
            <a:ext cx="12192000" cy="661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9882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21337-7568-D1C5-68C8-C5C732111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Code Explanation – Frontend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DDA7E-8A73-CEA5-E2EB-D06DBBEE6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2936" y="2556932"/>
            <a:ext cx="10039545" cy="3318936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The frontend is developed using HTML, CSS, and JavaScript.</a:t>
            </a:r>
          </a:p>
          <a:p>
            <a:r>
              <a:rPr lang="en-US" dirty="0"/>
              <a:t>HTML is used to create the structure of the web page (</a:t>
            </a:r>
            <a:r>
              <a:rPr lang="en-US" dirty="0" err="1"/>
              <a:t>textarea</a:t>
            </a:r>
            <a:r>
              <a:rPr lang="en-US" dirty="0"/>
              <a:t>, buttons, sliders, dropdown).</a:t>
            </a:r>
          </a:p>
          <a:p>
            <a:r>
              <a:rPr lang="en-US" dirty="0"/>
              <a:t>CSS is used for styling the interface (layout, colors, progress bar, buttons).</a:t>
            </a:r>
          </a:p>
          <a:p>
            <a:r>
              <a:rPr lang="en-US" dirty="0"/>
              <a:t>A </a:t>
            </a:r>
            <a:r>
              <a:rPr lang="en-US" dirty="0" err="1"/>
              <a:t>textarea</a:t>
            </a:r>
            <a:r>
              <a:rPr lang="en-US" dirty="0"/>
              <a:t> allows the user to enter long </a:t>
            </a:r>
            <a:r>
              <a:rPr lang="en-US" dirty="0" err="1"/>
              <a:t>text.A</a:t>
            </a:r>
            <a:r>
              <a:rPr lang="en-US" dirty="0"/>
              <a:t> range slider is used to select summary length.</a:t>
            </a:r>
          </a:p>
          <a:p>
            <a:r>
              <a:rPr lang="en-US" dirty="0"/>
              <a:t>A dropdown menu allows selection between paragraph and bullet mode.</a:t>
            </a:r>
          </a:p>
          <a:p>
            <a:r>
              <a:rPr lang="en-US" dirty="0"/>
              <a:t>When the “Generate Summary” button is clicked, JavaScript sends a POST request to the Flask backend using the fetch() API.</a:t>
            </a:r>
          </a:p>
          <a:p>
            <a:r>
              <a:rPr lang="en-US" dirty="0"/>
              <a:t>The backend response (summary, bullets, score) is received in JSON </a:t>
            </a:r>
            <a:r>
              <a:rPr lang="en-US" dirty="0" err="1"/>
              <a:t>format.The</a:t>
            </a:r>
            <a:r>
              <a:rPr lang="en-US" dirty="0"/>
              <a:t> summary is dynamically displayed on the webpage.</a:t>
            </a:r>
          </a:p>
          <a:p>
            <a:r>
              <a:rPr lang="en-US" dirty="0"/>
              <a:t>A progress bar visually shows the confidence score.</a:t>
            </a:r>
            <a:endParaRPr lang="en-IN" dirty="0"/>
          </a:p>
        </p:txBody>
      </p:sp>
      <p:pic>
        <p:nvPicPr>
          <p:cNvPr id="6" name="Picture 5" descr="7f18a2bb-bcfd-4749-a965-21e0bd05b5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409839" cy="731520"/>
          </a:xfrm>
          <a:prstGeom prst="rect">
            <a:avLst/>
          </a:prstGeom>
        </p:spPr>
      </p:pic>
      <p:pic>
        <p:nvPicPr>
          <p:cNvPr id="7" name="Picture 6" descr="415fac5a-face-4df4-a058-d22173aafe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35040"/>
            <a:ext cx="12192000" cy="661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2351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D121C-7052-399C-845E-A28ECD1DD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/ Output Screens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446CB-DD2A-8180-63B0-D2CF14B10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572" y="2556932"/>
            <a:ext cx="5510752" cy="331893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system successfully generates meaningful and concise summaries from long text.</a:t>
            </a:r>
          </a:p>
          <a:p>
            <a:r>
              <a:rPr lang="en-US" dirty="0"/>
              <a:t>Produces both abstractive (paragraph) and extractive (bullet) summaries.</a:t>
            </a:r>
          </a:p>
          <a:p>
            <a:r>
              <a:rPr lang="en-US" dirty="0"/>
              <a:t>The Conditional Discriminator provides a confidence score for quality estimation.</a:t>
            </a:r>
          </a:p>
          <a:p>
            <a:r>
              <a:rPr lang="en-US" dirty="0"/>
              <a:t>GAN training improves the quality and coherence of generated summaries.</a:t>
            </a:r>
          </a:p>
          <a:p>
            <a:r>
              <a:rPr lang="en-US" dirty="0"/>
              <a:t>The web interface enables real-time summarization with smooth performance.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pic>
        <p:nvPicPr>
          <p:cNvPr id="8" name="Picture 7" descr="7f18a2bb-bcfd-4749-a965-21e0bd05b5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409839" cy="731520"/>
          </a:xfrm>
          <a:prstGeom prst="rect">
            <a:avLst/>
          </a:prstGeom>
        </p:spPr>
      </p:pic>
      <p:pic>
        <p:nvPicPr>
          <p:cNvPr id="9" name="Picture 8" descr="415fac5a-face-4df4-a058-d22173aafe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35040"/>
            <a:ext cx="12192000" cy="6612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8A03FFE-AE13-56E6-43E0-CB0C9E5A49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7278" y="2556932"/>
            <a:ext cx="3629320" cy="3318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2765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D43AD-637D-B58E-D76E-819E60F91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36552-49C7-586B-E604-F17304994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Automatically generates concise and meaningful summaries.</a:t>
            </a:r>
          </a:p>
          <a:p>
            <a:r>
              <a:rPr lang="en-US" dirty="0"/>
              <a:t>Combines Transformer (BART) and GAN architecture for improved quality.</a:t>
            </a:r>
          </a:p>
          <a:p>
            <a:r>
              <a:rPr lang="en-US" dirty="0"/>
              <a:t>Supports both paragraph (abstractive) and bullet (extractive) summaries.</a:t>
            </a:r>
          </a:p>
          <a:p>
            <a:r>
              <a:rPr lang="en-US" dirty="0"/>
              <a:t>Provides a confidence score for summary evaluation.</a:t>
            </a:r>
          </a:p>
          <a:p>
            <a:r>
              <a:rPr lang="en-US" dirty="0"/>
              <a:t>Faster and more efficient than manual summarization.</a:t>
            </a:r>
          </a:p>
          <a:p>
            <a:r>
              <a:rPr lang="en-US" dirty="0"/>
              <a:t>User-friendly web interface for real-time usage.</a:t>
            </a:r>
          </a:p>
          <a:p>
            <a:endParaRPr lang="en-IN" dirty="0"/>
          </a:p>
        </p:txBody>
      </p:sp>
      <p:pic>
        <p:nvPicPr>
          <p:cNvPr id="4" name="Picture 3" descr="7f18a2bb-bcfd-4749-a965-21e0bd05b5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409839" cy="731520"/>
          </a:xfrm>
          <a:prstGeom prst="rect">
            <a:avLst/>
          </a:prstGeom>
        </p:spPr>
      </p:pic>
      <p:pic>
        <p:nvPicPr>
          <p:cNvPr id="5" name="Picture 4" descr="415fac5a-face-4df4-a058-d22173aafe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35040"/>
            <a:ext cx="12192000" cy="661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8842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93F9-A679-7950-D179-294F2484E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CD359-58F2-6A88-7434-3E1CF7AAD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model is trained on a limited dataset, which may affect generalization.</a:t>
            </a:r>
          </a:p>
          <a:p>
            <a:r>
              <a:rPr lang="en-US" dirty="0"/>
              <a:t>GAN training is complex and may be unstable.</a:t>
            </a:r>
          </a:p>
          <a:p>
            <a:r>
              <a:rPr lang="en-US" dirty="0"/>
              <a:t>Generated summaries may sometimes miss important information.</a:t>
            </a:r>
          </a:p>
          <a:p>
            <a:r>
              <a:rPr lang="en-US" dirty="0"/>
              <a:t>Confidence score is based on discriminator prediction, not human evaluation.</a:t>
            </a:r>
          </a:p>
          <a:p>
            <a:r>
              <a:rPr lang="en-US" dirty="0"/>
              <a:t>Performance depends on input text length and quality.</a:t>
            </a:r>
          </a:p>
          <a:p>
            <a:r>
              <a:rPr lang="en-US" dirty="0"/>
              <a:t>Requires good computational resources for training and inference.</a:t>
            </a:r>
          </a:p>
          <a:p>
            <a:endParaRPr lang="en-IN" dirty="0"/>
          </a:p>
        </p:txBody>
      </p:sp>
      <p:pic>
        <p:nvPicPr>
          <p:cNvPr id="4" name="Picture 3" descr="7f18a2bb-bcfd-4749-a965-21e0bd05b5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409839" cy="731520"/>
          </a:xfrm>
          <a:prstGeom prst="rect">
            <a:avLst/>
          </a:prstGeom>
        </p:spPr>
      </p:pic>
      <p:pic>
        <p:nvPicPr>
          <p:cNvPr id="5" name="Picture 4" descr="415fac5a-face-4df4-a058-d22173aafe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35040"/>
            <a:ext cx="12192000" cy="661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5704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76CA3-1FED-82DB-674D-851CEF983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E1CE1-77B2-D270-0147-D6C4B2ED2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Train the GAN model on larger and more diverse datasets for better performance.</a:t>
            </a:r>
          </a:p>
          <a:p>
            <a:r>
              <a:rPr lang="en-US" dirty="0"/>
              <a:t>Improve the Discriminator to provide more accurate quality evaluation.</a:t>
            </a:r>
          </a:p>
          <a:p>
            <a:r>
              <a:rPr lang="en-US" dirty="0"/>
              <a:t>Implement ROUGE and BLEU metrics for advanced summary evaluation.</a:t>
            </a:r>
          </a:p>
          <a:p>
            <a:r>
              <a:rPr lang="en-US" dirty="0"/>
              <a:t>Add multilingual text summarization support.</a:t>
            </a:r>
          </a:p>
          <a:p>
            <a:r>
              <a:rPr lang="en-US" dirty="0"/>
              <a:t>Optimize the model for faster inference and deployment.</a:t>
            </a:r>
          </a:p>
          <a:p>
            <a:r>
              <a:rPr lang="en-US" dirty="0"/>
              <a:t>Integrate the system with mobile or cloud-based applications.</a:t>
            </a:r>
          </a:p>
          <a:p>
            <a:endParaRPr lang="en-IN" dirty="0"/>
          </a:p>
        </p:txBody>
      </p:sp>
      <p:pic>
        <p:nvPicPr>
          <p:cNvPr id="4" name="Picture 3" descr="7f18a2bb-bcfd-4749-a965-21e0bd05b5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409839" cy="731520"/>
          </a:xfrm>
          <a:prstGeom prst="rect">
            <a:avLst/>
          </a:prstGeom>
        </p:spPr>
      </p:pic>
      <p:pic>
        <p:nvPicPr>
          <p:cNvPr id="5" name="Picture 4" descr="415fac5a-face-4df4-a058-d22173aafe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35040"/>
            <a:ext cx="12192000" cy="661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090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F0AC9-DD32-F790-6FCC-23D050348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1EE3B-D9F0-92EB-8430-D655E8510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project successfully implements a Conditional GAN-based Text Summarizer using Transformer architecture.</a:t>
            </a:r>
          </a:p>
          <a:p>
            <a:r>
              <a:rPr lang="en-US" dirty="0"/>
              <a:t>The Generator (</a:t>
            </a:r>
            <a:r>
              <a:rPr lang="en-US" dirty="0" err="1"/>
              <a:t>DistilBART</a:t>
            </a:r>
            <a:r>
              <a:rPr lang="en-US" dirty="0"/>
              <a:t>) produces meaningful abstractive summaries.</a:t>
            </a:r>
          </a:p>
          <a:p>
            <a:r>
              <a:rPr lang="en-US" dirty="0"/>
              <a:t>The Conditional Discriminator evaluates summary quality and provides a confidence score.</a:t>
            </a:r>
          </a:p>
          <a:p>
            <a:r>
              <a:rPr lang="en-US" dirty="0"/>
              <a:t>The system supports both paragraph and bullet summaries.</a:t>
            </a:r>
          </a:p>
          <a:p>
            <a:r>
              <a:rPr lang="en-US" dirty="0"/>
              <a:t>The web-based interface enables real-time text summarization.</a:t>
            </a:r>
          </a:p>
          <a:p>
            <a:r>
              <a:rPr lang="en-US" dirty="0"/>
              <a:t>Overall, the project demonstrates how combining </a:t>
            </a:r>
            <a:r>
              <a:rPr lang="en-US" b="1" dirty="0"/>
              <a:t>Transformers and GANs</a:t>
            </a:r>
            <a:r>
              <a:rPr lang="en-US" dirty="0"/>
              <a:t> can improve the quality and reliability of automated text summarization systems.</a:t>
            </a:r>
          </a:p>
          <a:p>
            <a:endParaRPr lang="en-IN" dirty="0"/>
          </a:p>
        </p:txBody>
      </p:sp>
      <p:pic>
        <p:nvPicPr>
          <p:cNvPr id="4" name="Picture 3" descr="7f18a2bb-bcfd-4749-a965-21e0bd05b5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409839" cy="731520"/>
          </a:xfrm>
          <a:prstGeom prst="rect">
            <a:avLst/>
          </a:prstGeom>
        </p:spPr>
      </p:pic>
      <p:pic>
        <p:nvPicPr>
          <p:cNvPr id="5" name="Picture 4" descr="415fac5a-face-4df4-a058-d22173aafe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35040"/>
            <a:ext cx="12192000" cy="661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7806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356</TotalTime>
  <Words>1323</Words>
  <Application>Microsoft Office PowerPoint</Application>
  <PresentationFormat>Widescreen</PresentationFormat>
  <Paragraphs>143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Garamond</vt:lpstr>
      <vt:lpstr>Organic</vt:lpstr>
      <vt:lpstr>Automatic Text Summarization</vt:lpstr>
      <vt:lpstr>Introduction</vt:lpstr>
      <vt:lpstr>Problem Statement</vt:lpstr>
      <vt:lpstr>Objectives</vt:lpstr>
      <vt:lpstr>Literature Review / Existing System</vt:lpstr>
      <vt:lpstr>Proposed System</vt:lpstr>
      <vt:lpstr>Types of Text Summarization</vt:lpstr>
      <vt:lpstr>Technology Stack</vt:lpstr>
      <vt:lpstr>Transformer Model Overview</vt:lpstr>
      <vt:lpstr>DistilBART Model</vt:lpstr>
      <vt:lpstr>GAN Concept </vt:lpstr>
      <vt:lpstr>System Architecture</vt:lpstr>
      <vt:lpstr>Working Flow</vt:lpstr>
      <vt:lpstr>Code Explanation – Backend</vt:lpstr>
      <vt:lpstr>Code Explanation – Frontend</vt:lpstr>
      <vt:lpstr>Results / Output Screens</vt:lpstr>
      <vt:lpstr>Advantages</vt:lpstr>
      <vt:lpstr>Limitations</vt:lpstr>
      <vt:lpstr>Future Enhancements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</dc:creator>
  <cp:lastModifiedBy>Srikanth</cp:lastModifiedBy>
  <cp:revision>6</cp:revision>
  <dcterms:created xsi:type="dcterms:W3CDTF">2026-02-21T11:32:35Z</dcterms:created>
  <dcterms:modified xsi:type="dcterms:W3CDTF">2026-02-28T22:08:30Z</dcterms:modified>
</cp:coreProperties>
</file>